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920240"/>
            <a:ext cx="5669280" cy="5669280"/>
          </a:xfrm>
          <a:prstGeom prst="ellipse">
            <a:avLst/>
          </a:prstGeom>
          <a:solidFill>
            <a:srgbClr val="08506B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206240" cy="4206240"/>
          </a:xfrm>
          <a:prstGeom prst="ellipse">
            <a:avLst/>
          </a:prstGeom>
          <a:solidFill>
            <a:srgbClr val="0E6B7E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3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COMPLEXAS  ·  PROJETO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Detecção de domínios funcionais em proteínas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520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de contato  ·  centralidade  ·  detecção de comunidades (Louvain)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fixados nos testes  ·  ablação de arestas  ·  alvo 6B1T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PPGCO / FACOM  ·  UFU  ·  Prof. Gilberto Nakamura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IDEIA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Proteína = rede social de aminoácidos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943600" cy="896112"/>
          </a:xfrm>
          <a:prstGeom prst="roundRect">
            <a:avLst>
              <a:gd name="adj" fmla="val 8163"/>
            </a:avLst>
          </a:prstGeom>
          <a:solidFill>
            <a:srgbClr val="F3F7F8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48256"/>
            <a:ext cx="457200" cy="457200"/>
          </a:xfrm>
          <a:prstGeom prst="ellipse">
            <a:avLst/>
          </a:prstGeom>
          <a:solidFill>
            <a:srgbClr val="0E6B7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938528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  </a:t>
            </a:r>
            <a:pPr indent="0" marL="0">
              <a:buNone/>
            </a:pPr>
            <a:r>
              <a:rPr lang="en-US" sz="14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resíduo de aminoácido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5943600" cy="896112"/>
          </a:xfrm>
          <a:prstGeom prst="roundRect">
            <a:avLst>
              <a:gd name="adj" fmla="val 8163"/>
            </a:avLst>
          </a:prstGeom>
          <a:solidFill>
            <a:srgbClr val="F3F7F8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3099816"/>
            <a:ext cx="457200" cy="457200"/>
          </a:xfrm>
          <a:prstGeom prst="ellipse">
            <a:avLst/>
          </a:prstGeom>
          <a:solidFill>
            <a:srgbClr val="0E6B7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2990088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Aresta   </a:t>
            </a:r>
            <a:pPr indent="0" marL="0">
              <a:buNone/>
            </a:pPr>
            <a:r>
              <a:rPr lang="en-US" sz="14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resíduos em contato físico no espaço 3D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943600" cy="896112"/>
          </a:xfrm>
          <a:prstGeom prst="roundRect">
            <a:avLst>
              <a:gd name="adj" fmla="val 8163"/>
            </a:avLst>
          </a:prstGeom>
          <a:solidFill>
            <a:srgbClr val="F3F7F8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4151376"/>
            <a:ext cx="457200" cy="457200"/>
          </a:xfrm>
          <a:prstGeom prst="ellipse">
            <a:avLst/>
          </a:prstGeom>
          <a:solidFill>
            <a:srgbClr val="0E6B7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4041648"/>
            <a:ext cx="4937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   </a:t>
            </a:r>
            <a:pPr indent="0" marL="0">
              <a:buNone/>
            </a:pPr>
            <a:r>
              <a:rPr lang="en-US" sz="14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coeso por dentro, esparso por fora = domínio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858000" y="1828800"/>
            <a:ext cx="4663440" cy="3154680"/>
          </a:xfrm>
          <a:prstGeom prst="roundRect">
            <a:avLst>
              <a:gd name="adj" fmla="val 2319"/>
            </a:avLst>
          </a:prstGeom>
          <a:solidFill>
            <a:srgbClr val="0B2B3C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7" name="Image 0" descr="/home/claude/Disciplinas-Doutorado/redes_complexas/figs/SYNTH_net3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86600" y="2057400"/>
            <a:ext cx="4206240" cy="23317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040880" y="4434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sintético: 4 domínios plantados, recuperados pelo Louvain (ARI 0,92)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40080" y="52120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8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Detectar domínios funcionais equivale a detectar comunidades de rede.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DA REDE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 de contatos por resíduo, não por átomo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F3F7F8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Nó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103120" y="1828800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resíduo (cadeia + número)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670048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F3F7F8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670048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Aresta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103120" y="2670048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átomos pesados ≤ 5 Å (heavy)  ou  Cα ≤ 8 Å (ca)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511296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F3F7F8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511296"/>
            <a:ext cx="1371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03120" y="3511296"/>
            <a:ext cx="4434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contatos atômicos (heavy)  ou  1/distância (ca)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949440" y="1828800"/>
            <a:ext cx="4572000" cy="2340864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178040" y="2011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por resíduo?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78040" y="2395728"/>
            <a:ext cx="4160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de ~1.000.000 de átomos para ~10.000 a 100.000 resíduos, preservando a topologia de domínios (vizinhos por KD-tree).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434840"/>
            <a:ext cx="10881360" cy="1600200"/>
          </a:xfrm>
          <a:prstGeom prst="roundRect">
            <a:avLst>
              <a:gd name="adj" fmla="val 4571"/>
            </a:avLst>
          </a:prstGeom>
          <a:solidFill>
            <a:srgbClr val="EAF5F3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461772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distância, agora medido.  </a:t>
            </a:r>
            <a:pPr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ablação de arestas confirma: átomos pesados a 5 Å recuperam capsômeros com ARI 0,81 a 0,86, contra 0,56 do critério Cα a 8 Å. A proximidade espacial é o substrato físico do enovelamento.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rodar o projeto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457200" cy="457200"/>
          </a:xfrm>
          <a:prstGeom prst="ellipse">
            <a:avLst/>
          </a:prstGeom>
          <a:solidFill>
            <a:srgbClr val="08506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9202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806440" y="1920240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779776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3F7F8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62656"/>
            <a:ext cx="457200" cy="457200"/>
          </a:xfrm>
          <a:prstGeom prst="ellipse">
            <a:avLst/>
          </a:prstGeom>
          <a:solidFill>
            <a:srgbClr val="08506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87121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o pipeline (testes)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06440" y="2871216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run_experiments.py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730752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913632"/>
            <a:ext cx="457200" cy="457200"/>
          </a:xfrm>
          <a:prstGeom prst="ellipse">
            <a:avLst/>
          </a:prstGeom>
          <a:solidFill>
            <a:srgbClr val="08506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13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382219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o alvo 6B1T (γ fixo = 0,2)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806440" y="3822192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run_6b1t.py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8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derive_trimers_g02.py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681728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3F7F8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864608"/>
            <a:ext cx="457200" cy="457200"/>
          </a:xfrm>
          <a:prstGeom prst="ellipse">
            <a:avLst/>
          </a:prstGeom>
          <a:solidFill>
            <a:srgbClr val="08506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864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47731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Ablação de arestas + anotação RCSB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806440" y="4773168"/>
            <a:ext cx="5532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8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edge_ablation.py --pdb data/2HHB.pdb --truth chain --gamma 0.2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0850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fetch_rcsb_metadata.py 6B1T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+ README + declaração de IA no repositório público (GitHub). Estruturas: 6B1T.cif; moléculas-teste baixadas automaticamente.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RÁPIDO (DIRTY-AND-QUICK)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esperados na proteína de teste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897880" cy="3383280"/>
          </a:xfrm>
          <a:prstGeom prst="roundRect">
            <a:avLst>
              <a:gd name="adj" fmla="val 2162"/>
            </a:avLst>
          </a:prstGeom>
          <a:solidFill>
            <a:srgbClr val="0B2B3C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/home/claude/Disciplinas-Doutorado/redes_complexas/figs/console_dirty_quic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2011680"/>
            <a:ext cx="5532120" cy="31821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766560" y="1828800"/>
            <a:ext cx="243230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7" name="Image 1" descr="/home/claude/Disciplinas-Doutorado/redes_complexas/figs/SYNTH_confusi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93992" y="1938528"/>
            <a:ext cx="2377440" cy="18577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66560" y="365760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Sintético: comunidade x domínio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9308592" y="1828800"/>
            <a:ext cx="243230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0" name="Image 2" descr="/home/claude/Disciplinas-Doutorado/redes_complexas/figs/2HHB_tuned_confusio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336024" y="1938528"/>
            <a:ext cx="2377440" cy="18115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308592" y="3657600"/>
            <a:ext cx="2432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Hemoglobina: comunidade x cadeia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6766560" y="429768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EAF5F3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6949440" y="437083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Esperado: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0,92 (sintético) · 0,84 (hemoglobina, γ=0,2) · Q 0,74 / 0,69.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40080" y="5440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Sintético: 4 domínios plantados recuperados (cutoff 10 Å). Hemoglobina: 4 cadeias em γ=0,2, o γ herdado pelo alvo. Figuras salvas em figs/.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· ADENOVÍRUS HUMANO 5 (6B1T)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Capsídeo: 12.544 resíduos, Q = 0,90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572000" cy="4114800"/>
          </a:xfrm>
          <a:prstGeom prst="roundRect">
            <a:avLst>
              <a:gd name="adj" fmla="val 1778"/>
            </a:avLst>
          </a:prstGeom>
          <a:solidFill>
            <a:srgbClr val="0B2B3C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5" name="Image 0" descr="/home/claude/Disciplinas-Doutorado/redes_complexas/figs/6B1T_net3d_g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2057400"/>
            <a:ext cx="4206240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25780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0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 em γ=0,2 sobre a estrutura 3D (escala de capsômero)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40680" y="1874520"/>
            <a:ext cx="6080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623560" y="187452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8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73.276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269480" y="187452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arestas · 1 componente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40680" y="2642616"/>
            <a:ext cx="6080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623560" y="2642616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8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269480" y="2642616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 em γ=1 (escala fina)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40680" y="3410712"/>
            <a:ext cx="6080760" cy="658368"/>
          </a:xfrm>
          <a:prstGeom prst="roundRect">
            <a:avLst>
              <a:gd name="adj" fmla="val 11111"/>
            </a:avLst>
          </a:prstGeom>
          <a:solidFill>
            <a:srgbClr val="EAF5F3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623560" y="341071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0,812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269480" y="341071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vs trímeros+pénton+menores (γ=0,2, fixo)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40680" y="4178808"/>
            <a:ext cx="6080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623560" y="4178808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8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0,890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7269480" y="4178808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 de sensibilidade (γ=0,1)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40680" y="5029200"/>
            <a:ext cx="6080760" cy="960120"/>
          </a:xfrm>
          <a:prstGeom prst="roundRect">
            <a:avLst>
              <a:gd name="adj" fmla="val 7619"/>
            </a:avLst>
          </a:prstGeom>
          <a:solidFill>
            <a:srgbClr val="0E6B7E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669280" y="51206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 superado: pénton isolado + 4 trímeros de héxon recuperados, com γ fixado nos testes (sem ajuste no alvo).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BIOLÓGICA (ANOTAÇÃO WWPDB)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68096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2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comunidades reproduzem as famílias anotadas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6126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Héxon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148840" y="18288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trímeros nas 4 primeiras comunidades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578608"/>
            <a:ext cx="6126480" cy="640080"/>
          </a:xfrm>
          <a:prstGeom prst="roundRect">
            <a:avLst>
              <a:gd name="adj" fmla="val 11429"/>
            </a:avLst>
          </a:prstGeom>
          <a:solidFill>
            <a:srgbClr val="F3F7F8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57860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Pénton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148840" y="257860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isolado em comunidade própria (cadeia M)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328416"/>
            <a:ext cx="6126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328416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148840" y="332841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auto-organiza em comunidade própria (cimento dos vértices)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078224"/>
            <a:ext cx="6126480" cy="640080"/>
          </a:xfrm>
          <a:prstGeom prst="roundRect">
            <a:avLst>
              <a:gd name="adj" fmla="val 11429"/>
            </a:avLst>
          </a:prstGeom>
          <a:solidFill>
            <a:srgbClr val="F3F7F8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07822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48840" y="407822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própria, parte costurada entre héxons (interlacing)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828032"/>
            <a:ext cx="61264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82803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 / VII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148840" y="48280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embutidas nos héxons que revestem por dentro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95160" y="1828800"/>
            <a:ext cx="45262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0" name="Image 0" descr="/home/claude/Disciplinas-Doutorado/redes_complexas/figs/6B1T_confusion_trimer_g0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78040" y="2011680"/>
            <a:ext cx="4160520" cy="27432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995160" y="5074920"/>
            <a:ext cx="4526280" cy="960120"/>
          </a:xfrm>
          <a:prstGeom prst="roundRect">
            <a:avLst>
              <a:gd name="adj" fmla="val 7619"/>
            </a:avLst>
          </a:prstGeom>
          <a:solidFill>
            <a:srgbClr val="EAF5F3"/>
          </a:solidFill>
          <a:ln w="12700">
            <a:solidFill>
              <a:srgbClr val="E2EAEC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223760" y="516636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53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contra o RCSB: pénton = cadeia M (UniProt P12538, 571 res).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383280"/>
            <a:ext cx="5486400" cy="5486400"/>
          </a:xfrm>
          <a:prstGeom prst="ellipse">
            <a:avLst/>
          </a:prstGeom>
          <a:solidFill>
            <a:srgbClr val="08506B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3B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Comunidade ≈ domínio, na escala certa de resolução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68680" y="2359152"/>
            <a:ext cx="201168" cy="201168"/>
          </a:xfrm>
          <a:prstGeom prst="ellipse">
            <a:avLst/>
          </a:prstGeom>
          <a:solidFill>
            <a:srgbClr val="13B3A6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212848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calibrado no sintético (ARI 0,92) e validado em multímero real (hemoglobina ARI 0,84).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68680" y="3291840"/>
            <a:ext cx="201168" cy="201168"/>
          </a:xfrm>
          <a:prstGeom prst="ellipse">
            <a:avLst/>
          </a:prstGeom>
          <a:solidFill>
            <a:srgbClr val="13B3A6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3145536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Parâmetros FIXADOS nos testes: γ=0,2 herdado da hemoglobina, aplicado ao 6B1T sem ajuste no alvo. ARI de capsômero 0,812 (0,890 só como sensibilidade).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68680" y="4224528"/>
            <a:ext cx="201168" cy="201168"/>
          </a:xfrm>
          <a:prstGeom prst="ellipse">
            <a:avLst/>
          </a:prstGeom>
          <a:solidFill>
            <a:srgbClr val="13B3A6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4078224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Ablação de arestas: a definição importa muito (heavy 5 Å 0,81 a 0,86 vs Cα 8 Å 0,56); a ponderação físico-química muda a partição mas não melhora a recuperação. A geometria domina.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5157216"/>
            <a:ext cx="201168" cy="201168"/>
          </a:xfrm>
          <a:prstGeom prst="ellipse">
            <a:avLst/>
          </a:prstGeom>
          <a:solidFill>
            <a:srgbClr val="13B3A6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5010912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6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Reprodutível: run_experiments.py · run_6b1t.py · derive_trimers_g02.py · edge_ablation.py · fetch_rcsb_metadata.py.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(PDF) · código + README · declaração de uso de IA · este deck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Detecção de domínios funcionais em proteínas</dc:title>
  <dc:subject>PptxGenJS Presentation</dc:subject>
  <dc:creator>Pedro</dc:creator>
  <cp:lastModifiedBy>Pedro</cp:lastModifiedBy>
  <cp:revision>1</cp:revision>
  <dcterms:created xsi:type="dcterms:W3CDTF">2026-06-26T13:46:01Z</dcterms:created>
  <dcterms:modified xsi:type="dcterms:W3CDTF">2026-06-26T13:46:01Z</dcterms:modified>
</cp:coreProperties>
</file>